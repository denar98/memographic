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52CA64E-8305-4E06-9606-9C284B55F562}">
  <a:tblStyle styleId="{852CA64E-8305-4E06-9606-9C284B55F56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c54c8f4d0b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c54c8f4d0b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c54c8f4d0b_0_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c54c8f4d0b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c54c8f4d0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2c54c8f4d0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c54c8f4d0b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c54c8f4d0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c54c8f4d0b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2c54c8f4d0b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c54c8f4d0b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c54c8f4d0b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c54c8f4d0b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c54c8f4d0b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c578ca2893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c578ca2893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c54c8f4d0b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2c54c8f4d0b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1.png"/><Relationship Id="rId6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tore.flokk.com/norway/en-gb/products/hag-capisco?model=8126-STD&amp;code=0EJF9J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jpg"/><Relationship Id="rId4" Type="http://schemas.openxmlformats.org/officeDocument/2006/relationships/image" Target="../media/image4.png"/><Relationship Id="rId5" Type="http://schemas.openxmlformats.org/officeDocument/2006/relationships/image" Target="../media/image10.png"/><Relationship Id="rId6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8.png"/><Relationship Id="rId5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19.png"/><Relationship Id="rId10" Type="http://schemas.openxmlformats.org/officeDocument/2006/relationships/image" Target="../media/image18.png"/><Relationship Id="rId9" Type="http://schemas.openxmlformats.org/officeDocument/2006/relationships/image" Target="../media/image20.png"/><Relationship Id="rId5" Type="http://schemas.openxmlformats.org/officeDocument/2006/relationships/image" Target="../media/image16.png"/><Relationship Id="rId6" Type="http://schemas.openxmlformats.org/officeDocument/2006/relationships/image" Target="../media/image15.png"/><Relationship Id="rId7" Type="http://schemas.openxmlformats.org/officeDocument/2006/relationships/image" Target="../media/image14.png"/><Relationship Id="rId8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/>
          </a:blip>
          <a:srcRect b="0" l="17474" r="19209" t="0"/>
          <a:stretch/>
        </p:blipFill>
        <p:spPr>
          <a:xfrm>
            <a:off x="1118375" y="1022125"/>
            <a:ext cx="3453624" cy="337405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186950" y="3132225"/>
            <a:ext cx="10002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chemeClr val="dk1"/>
                </a:solidFill>
              </a:rPr>
              <a:t>#39a7ff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82725" y="3392799"/>
            <a:ext cx="1000200" cy="1489201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296675" y="1725475"/>
            <a:ext cx="912300" cy="3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</a:rPr>
              <a:t>#0F1F34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2000250" y="554313"/>
            <a:ext cx="835200" cy="2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</a:rPr>
              <a:t>#385286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5858338" y="3011400"/>
            <a:ext cx="9123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</a:rPr>
              <a:t>#faf8f7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60" name="Google Shape;60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97725" y="3625725"/>
            <a:ext cx="649800" cy="66605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3"/>
          <p:cNvSpPr txBox="1"/>
          <p:nvPr/>
        </p:nvSpPr>
        <p:spPr>
          <a:xfrm>
            <a:off x="7452750" y="2406900"/>
            <a:ext cx="1571700" cy="604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Secondary colors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8112150" y="3209200"/>
            <a:ext cx="9123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</a:rPr>
              <a:t>#5CA7A0</a:t>
            </a:r>
            <a:br>
              <a:rPr lang="en-GB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63" name="Google Shape;63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32450" y="3625713"/>
            <a:ext cx="571175" cy="47037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3"/>
          <p:cNvSpPr txBox="1"/>
          <p:nvPr/>
        </p:nvSpPr>
        <p:spPr>
          <a:xfrm>
            <a:off x="7276938" y="3296025"/>
            <a:ext cx="8352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</a:rPr>
              <a:t>#C7D4DA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1961700" y="4462100"/>
            <a:ext cx="912300" cy="2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</a:rPr>
              <a:t>#FF825D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6" name="Google Shape;66;p13"/>
          <p:cNvSpPr txBox="1"/>
          <p:nvPr/>
        </p:nvSpPr>
        <p:spPr>
          <a:xfrm>
            <a:off x="2874000" y="560500"/>
            <a:ext cx="1000200" cy="3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</a:rPr>
              <a:t>#fbd30c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67" name="Google Shape;67;p13"/>
          <p:cNvSpPr txBox="1"/>
          <p:nvPr/>
        </p:nvSpPr>
        <p:spPr>
          <a:xfrm>
            <a:off x="2956400" y="4462100"/>
            <a:ext cx="10770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</a:rPr>
              <a:t>#ffeed9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68" name="Google Shape;68;p13"/>
          <p:cNvSpPr txBox="1"/>
          <p:nvPr/>
        </p:nvSpPr>
        <p:spPr>
          <a:xfrm>
            <a:off x="4583700" y="2978400"/>
            <a:ext cx="912300" cy="3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1F1F1F"/>
                </a:solidFill>
              </a:rPr>
              <a:t>#ece5dc</a:t>
            </a:r>
            <a:endParaRPr sz="1200"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69" name="Google Shape;69;p13"/>
          <p:cNvSpPr txBox="1"/>
          <p:nvPr/>
        </p:nvSpPr>
        <p:spPr>
          <a:xfrm>
            <a:off x="4659925" y="2000250"/>
            <a:ext cx="1131900" cy="3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</a:rPr>
              <a:t>#e0f4ff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70" name="Google Shape;70;p13"/>
          <p:cNvSpPr/>
          <p:nvPr/>
        </p:nvSpPr>
        <p:spPr>
          <a:xfrm>
            <a:off x="2912450" y="1549650"/>
            <a:ext cx="769200" cy="11319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3"/>
          <p:cNvSpPr/>
          <p:nvPr/>
        </p:nvSpPr>
        <p:spPr>
          <a:xfrm>
            <a:off x="1231050" y="2731125"/>
            <a:ext cx="1571700" cy="11319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3"/>
          <p:cNvSpPr/>
          <p:nvPr/>
        </p:nvSpPr>
        <p:spPr>
          <a:xfrm>
            <a:off x="3681650" y="2731125"/>
            <a:ext cx="835200" cy="11319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3"/>
          <p:cNvSpPr/>
          <p:nvPr/>
        </p:nvSpPr>
        <p:spPr>
          <a:xfrm>
            <a:off x="5282725" y="3392800"/>
            <a:ext cx="1000200" cy="11319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4" name="Google Shape;74;p13"/>
          <p:cNvCxnSpPr/>
          <p:nvPr/>
        </p:nvCxnSpPr>
        <p:spPr>
          <a:xfrm flipH="1">
            <a:off x="3681725" y="769325"/>
            <a:ext cx="1209000" cy="7035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5" name="Google Shape;75;p13"/>
          <p:cNvCxnSpPr/>
          <p:nvPr/>
        </p:nvCxnSpPr>
        <p:spPr>
          <a:xfrm flipH="1">
            <a:off x="2769725" y="780325"/>
            <a:ext cx="2121000" cy="21432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" name="Google Shape;76;p13"/>
          <p:cNvCxnSpPr>
            <a:endCxn id="68" idx="3"/>
          </p:cNvCxnSpPr>
          <p:nvPr/>
        </p:nvCxnSpPr>
        <p:spPr>
          <a:xfrm>
            <a:off x="4847400" y="747450"/>
            <a:ext cx="648600" cy="24288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7" name="Google Shape;77;p13"/>
          <p:cNvCxnSpPr/>
          <p:nvPr/>
        </p:nvCxnSpPr>
        <p:spPr>
          <a:xfrm flipH="1">
            <a:off x="4517000" y="791300"/>
            <a:ext cx="395700" cy="18792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8" name="Google Shape;78;p13"/>
          <p:cNvSpPr txBox="1"/>
          <p:nvPr/>
        </p:nvSpPr>
        <p:spPr>
          <a:xfrm>
            <a:off x="4659925" y="347625"/>
            <a:ext cx="1376400" cy="470400"/>
          </a:xfrm>
          <a:prstGeom prst="rect">
            <a:avLst/>
          </a:prstGeom>
          <a:solidFill>
            <a:srgbClr val="F9D20E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Main colors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9" name="Google Shape;79;p13"/>
          <p:cNvSpPr txBox="1"/>
          <p:nvPr/>
        </p:nvSpPr>
        <p:spPr>
          <a:xfrm>
            <a:off x="43950" y="54950"/>
            <a:ext cx="1131900" cy="666000"/>
          </a:xfrm>
          <a:prstGeom prst="rect">
            <a:avLst/>
          </a:prstGeom>
          <a:solidFill>
            <a:srgbClr val="F9D20E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Color palette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Resources / links</a:t>
            </a:r>
            <a:endParaRPr/>
          </a:p>
        </p:txBody>
      </p:sp>
      <p:sp>
        <p:nvSpPr>
          <p:cNvPr id="85" name="Google Shape;85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Link to the manufacturer</a:t>
            </a:r>
            <a:br>
              <a:rPr lang="en-GB"/>
            </a:br>
            <a:r>
              <a:rPr lang="en-GB" u="sng">
                <a:solidFill>
                  <a:schemeClr val="hlink"/>
                </a:solidFill>
                <a:hlinkClick r:id="rId3"/>
              </a:rPr>
              <a:t>https://store.flokk.com/norway/en-gb/products/hag-capisco?model=8126-STD&amp;code=0EJF9J</a:t>
            </a:r>
            <a:r>
              <a:rPr lang="en-GB"/>
              <a:t>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5"/>
          <p:cNvSpPr txBox="1"/>
          <p:nvPr/>
        </p:nvSpPr>
        <p:spPr>
          <a:xfrm>
            <a:off x="522150" y="612325"/>
            <a:ext cx="5410200" cy="45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1F1F1F"/>
                </a:solidFill>
                <a:highlight>
                  <a:srgbClr val="FFFFFF"/>
                </a:highlight>
              </a:rPr>
              <a:t>Håg Capisco: Not without reason Norway's most popular office chair.</a:t>
            </a:r>
            <a:endParaRPr b="1"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1F1F1F"/>
                </a:solidFill>
                <a:highlight>
                  <a:srgbClr val="FFFFFF"/>
                </a:highlight>
              </a:rPr>
              <a:t>Find your perfect, used Capisco chair: Advice, tips and help from C24</a:t>
            </a:r>
            <a:br>
              <a:rPr lang="en-GB" sz="1200">
                <a:solidFill>
                  <a:srgbClr val="1F1F1F"/>
                </a:solidFill>
                <a:highlight>
                  <a:srgbClr val="FFFFFF"/>
                </a:highlight>
              </a:rPr>
            </a:br>
            <a:r>
              <a:rPr lang="en-GB" sz="1200">
                <a:solidFill>
                  <a:srgbClr val="1F1F1F"/>
                </a:solidFill>
                <a:highlight>
                  <a:srgbClr val="FFFFFF"/>
                </a:highlight>
              </a:rPr>
              <a:t>. </a:t>
            </a:r>
            <a:br>
              <a:rPr lang="en-GB" sz="1200">
                <a:solidFill>
                  <a:srgbClr val="1F1F1F"/>
                </a:solidFill>
                <a:highlight>
                  <a:srgbClr val="FFFFFF"/>
                </a:highlight>
              </a:rPr>
            </a:br>
            <a:r>
              <a:rPr b="1" lang="en-GB" sz="1200">
                <a:solidFill>
                  <a:srgbClr val="1F1F1F"/>
                </a:solidFill>
                <a:highlight>
                  <a:srgbClr val="FFFFFF"/>
                </a:highlight>
              </a:rPr>
              <a:t>Save time and find your perfect Capisco chair at C24!</a:t>
            </a:r>
            <a:endParaRPr b="1"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F1F1F"/>
              </a:buClr>
              <a:buSzPts val="1200"/>
              <a:buChar char="●"/>
            </a:pPr>
            <a:r>
              <a:rPr lang="en-GB" sz="1200">
                <a:solidFill>
                  <a:srgbClr val="1F1F1F"/>
                </a:solidFill>
                <a:highlight>
                  <a:srgbClr val="FFFFFF"/>
                </a:highlight>
              </a:rPr>
              <a:t>Realistic video viewings of gently used and newly cleaned chairs</a:t>
            </a:r>
            <a:endParaRPr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Char char="●"/>
            </a:pPr>
            <a:r>
              <a:rPr lang="en-GB" sz="1200">
                <a:solidFill>
                  <a:srgbClr val="1F1F1F"/>
                </a:solidFill>
                <a:highlight>
                  <a:srgbClr val="FFFFFF"/>
                </a:highlight>
              </a:rPr>
              <a:t>Low prices, including shipping</a:t>
            </a:r>
            <a:endParaRPr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Char char="●"/>
            </a:pPr>
            <a:r>
              <a:rPr lang="en-GB" sz="1200">
                <a:solidFill>
                  <a:srgbClr val="1F1F1F"/>
                </a:solidFill>
                <a:highlight>
                  <a:srgbClr val="FFFFFF"/>
                </a:highlight>
              </a:rPr>
              <a:t>Pay after you have seen and tried the chair</a:t>
            </a:r>
            <a:endParaRPr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200">
                <a:solidFill>
                  <a:srgbClr val="1F1F1F"/>
                </a:solidFill>
                <a:highlight>
                  <a:schemeClr val="lt1"/>
                </a:highlight>
              </a:rPr>
              <a:t>About the Chair:</a:t>
            </a:r>
            <a:endParaRPr b="1" sz="1200">
              <a:solidFill>
                <a:srgbClr val="1F1F1F"/>
              </a:solidFill>
              <a:highlight>
                <a:schemeClr val="lt1"/>
              </a:highlight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F1F1F"/>
              </a:buClr>
              <a:buSzPts val="1200"/>
              <a:buChar char="●"/>
            </a:pPr>
            <a:r>
              <a:rPr b="1" lang="en-GB" sz="1200">
                <a:solidFill>
                  <a:srgbClr val="1F1F1F"/>
                </a:solidFill>
                <a:highlight>
                  <a:schemeClr val="lt1"/>
                </a:highlight>
              </a:rPr>
              <a:t>Excellent lumbar support:</a:t>
            </a:r>
            <a:r>
              <a:rPr lang="en-GB" sz="1200">
                <a:solidFill>
                  <a:srgbClr val="1F1F1F"/>
                </a:solidFill>
                <a:highlight>
                  <a:schemeClr val="lt1"/>
                </a:highlight>
              </a:rPr>
              <a:t> Ideal for people with back or hip problems. Promotes ergonomic sitting and supports a variety of postures.</a:t>
            </a:r>
            <a:endParaRPr sz="1200">
              <a:solidFill>
                <a:srgbClr val="1F1F1F"/>
              </a:solidFill>
              <a:highlight>
                <a:schemeClr val="lt1"/>
              </a:highlight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-GB" sz="1200">
                <a:solidFill>
                  <a:schemeClr val="dk1"/>
                </a:solidFill>
                <a:highlight>
                  <a:schemeClr val="lt1"/>
                </a:highlight>
              </a:rPr>
              <a:t>Timeless design icon:</a:t>
            </a:r>
            <a:r>
              <a:rPr lang="en-GB" sz="1200">
                <a:solidFill>
                  <a:schemeClr val="dk1"/>
                </a:solidFill>
                <a:highlight>
                  <a:schemeClr val="lt1"/>
                </a:highlight>
              </a:rPr>
              <a:t> A classic piece that will never go out of style. </a:t>
            </a:r>
            <a:r>
              <a:rPr lang="en-GB" sz="1200">
                <a:solidFill>
                  <a:srgbClr val="1F1F1F"/>
                </a:solidFill>
                <a:highlight>
                  <a:srgbClr val="FFFFFF"/>
                </a:highlight>
              </a:rPr>
              <a:t> Used Capisco chairs in black are in high demand and sell quickly on the second-hand market.</a:t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Char char="●"/>
            </a:pPr>
            <a:r>
              <a:rPr b="1" lang="en-GB" sz="1200">
                <a:solidFill>
                  <a:srgbClr val="1F1F1F"/>
                </a:solidFill>
                <a:highlight>
                  <a:srgbClr val="FFFFFF"/>
                </a:highlight>
              </a:rPr>
              <a:t>Fully Customizable Comfort:</a:t>
            </a:r>
            <a:r>
              <a:rPr lang="en-GB" sz="1200">
                <a:solidFill>
                  <a:srgbClr val="1F1F1F"/>
                </a:solidFill>
                <a:highlight>
                  <a:srgbClr val="FFFFFF"/>
                </a:highlight>
              </a:rPr>
              <a:t> Easily adjust the chair to your ideal sitting position for maximum comfort, no tools required.</a:t>
            </a:r>
            <a:endParaRPr b="1" sz="1200">
              <a:solidFill>
                <a:srgbClr val="1F1F1F"/>
              </a:solidFill>
              <a:highlight>
                <a:schemeClr val="lt1"/>
              </a:highlight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Char char="●"/>
            </a:pPr>
            <a:r>
              <a:rPr b="1" lang="en-GB" sz="1200">
                <a:solidFill>
                  <a:srgbClr val="1F1F1F"/>
                </a:solidFill>
                <a:highlight>
                  <a:schemeClr val="lt1"/>
                </a:highlight>
              </a:rPr>
              <a:t>Norwegian design inspired by the rider's saddle:</a:t>
            </a:r>
            <a:r>
              <a:rPr lang="en-GB" sz="1200">
                <a:solidFill>
                  <a:srgbClr val="1F1F1F"/>
                </a:solidFill>
                <a:highlight>
                  <a:schemeClr val="lt1"/>
                </a:highlight>
              </a:rPr>
              <a:t> Offers a unique and comfortable sitting experience.</a:t>
            </a:r>
            <a:endParaRPr sz="1200">
              <a:solidFill>
                <a:srgbClr val="999999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91" name="Google Shape;9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6550" y="407450"/>
            <a:ext cx="1733750" cy="2691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"/>
            <a:ext cx="1233101" cy="6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21199" y="3054975"/>
            <a:ext cx="1475800" cy="197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585850" y="3277175"/>
            <a:ext cx="1345274" cy="1831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9" name="Google Shape;99;p16"/>
          <p:cNvGraphicFramePr/>
          <p:nvPr/>
        </p:nvGraphicFramePr>
        <p:xfrm>
          <a:off x="696700" y="389525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{852CA64E-8305-4E06-9606-9C284B55F562}</a:tableStyleId>
              </a:tblPr>
              <a:tblGrid>
                <a:gridCol w="2085975"/>
                <a:gridCol w="3762375"/>
              </a:tblGrid>
              <a:tr h="5429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Do:</a:t>
                      </a:r>
                      <a:endParaRPr b="1" sz="12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Don't:</a:t>
                      </a:r>
                      <a:endParaRPr b="1" sz="12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/>
                </a:tc>
              </a:tr>
              <a:tr h="876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Inspect the condition carefully: </a:t>
                      </a:r>
                      <a:r>
                        <a:rPr lang="en-GB" sz="10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Check the seat, backrest, and base.</a:t>
                      </a:r>
                      <a:endParaRPr sz="10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52400" marB="152400" marR="152400" marL="1524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Buy without seeing: </a:t>
                      </a:r>
                      <a:r>
                        <a:rPr lang="en-GB" sz="10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Be wary of low-quality pictures.</a:t>
                      </a:r>
                      <a:endParaRPr sz="10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52400" marB="152400" marR="152400" marL="152400"/>
                </a:tc>
              </a:tr>
              <a:tr h="876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Popular Choice: </a:t>
                      </a:r>
                      <a:r>
                        <a:rPr lang="en-GB" sz="10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Black is the most in-demand color for Capisco chairs.</a:t>
                      </a:r>
                      <a:endParaRPr sz="10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52400" marB="152400" marR="152400" marL="1524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Choose unpopular colors: </a:t>
                      </a:r>
                      <a:r>
                        <a:rPr lang="en-GB" sz="10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Black is the easiest to resell.</a:t>
                      </a:r>
                      <a:endParaRPr sz="10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52400" marB="152400" marR="152400" marL="152400"/>
                </a:tc>
              </a:tr>
              <a:tr h="876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See the chair in daylight: </a:t>
                      </a:r>
                      <a:r>
                        <a:rPr lang="en-GB" sz="10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Avoid misleading pictures.</a:t>
                      </a:r>
                      <a:br>
                        <a:rPr lang="en-GB" sz="10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</a:br>
                      <a:r>
                        <a:rPr b="1" lang="en-GB" sz="10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Request a video in daylight:</a:t>
                      </a:r>
                      <a:r>
                        <a:rPr lang="en-GB" sz="10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 See the chair's real condition and </a:t>
                      </a:r>
                      <a:r>
                        <a:rPr b="1" lang="en-GB" sz="10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avoid a bad purchase.</a:t>
                      </a:r>
                      <a:br>
                        <a:rPr lang="en-GB" sz="10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</a:br>
                      <a:br>
                        <a:rPr lang="en-GB" sz="10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</a:br>
                      <a:br>
                        <a:rPr lang="en-GB" sz="10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</a:br>
                      <a:endParaRPr sz="10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solidFill>
                            <a:srgbClr val="1F1F1F"/>
                          </a:solidFill>
                          <a:highlight>
                            <a:schemeClr val="lt1"/>
                          </a:highlight>
                        </a:rPr>
                        <a:t>Buy a newly cleaned chair</a:t>
                      </a:r>
                      <a:r>
                        <a:rPr lang="en-GB" sz="1000">
                          <a:solidFill>
                            <a:srgbClr val="1F1F1F"/>
                          </a:solidFill>
                          <a:highlight>
                            <a:schemeClr val="lt1"/>
                          </a:highlight>
                        </a:rPr>
                        <a:t> or choose a chair with a new seat cover.</a:t>
                      </a:r>
                      <a:endParaRPr sz="10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52400" marB="152400" marR="152400" marL="1524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Trust pictures blindly: </a:t>
                      </a:r>
                      <a:r>
                        <a:rPr lang="en-GB" sz="10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Many pictures of used chairs are manipulated, and stains can be hard to see. Be critical and inspect the chair in daylight before buying.</a:t>
                      </a:r>
                      <a:br>
                        <a:rPr lang="en-GB" sz="10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</a:br>
                      <a:br>
                        <a:rPr lang="en-GB" sz="10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</a:br>
                      <a:endParaRPr sz="10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0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0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0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Stains on a used Capisco chair can be a major problem. </a:t>
                      </a:r>
                      <a:r>
                        <a:rPr lang="en-GB" sz="10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They are difficult to remove, and can make the chair feel dirty and worn out. </a:t>
                      </a:r>
                      <a:endParaRPr sz="10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10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The solution is simple:</a:t>
                      </a:r>
                      <a:endParaRPr b="1" sz="10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Buy a newly cleaned chair or choose a chair with a new seat cover.</a:t>
                      </a:r>
                      <a:endParaRPr sz="10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52400" marB="152400" marR="152400" marL="152400"/>
                </a:tc>
              </a:tr>
            </a:tbl>
          </a:graphicData>
        </a:graphic>
      </p:graphicFrame>
      <p:pic>
        <p:nvPicPr>
          <p:cNvPr id="100" name="Google Shape;10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8450" y="344400"/>
            <a:ext cx="602825" cy="63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79450" y="389537"/>
            <a:ext cx="520299" cy="54292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6"/>
          <p:cNvSpPr txBox="1"/>
          <p:nvPr/>
        </p:nvSpPr>
        <p:spPr>
          <a:xfrm>
            <a:off x="644325" y="0"/>
            <a:ext cx="6409800" cy="7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rgbClr val="1F1F1F"/>
                </a:solidFill>
                <a:highlight>
                  <a:srgbClr val="FFFFFF"/>
                </a:highlight>
              </a:rPr>
              <a:t>Do's and Don'ts for Buying a Used Håg Capisco Chair:</a:t>
            </a:r>
            <a:endParaRPr b="1" sz="17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03" name="Google Shape;103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65700" y="4757026"/>
            <a:ext cx="778301" cy="3864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8" name="Google Shape;108;p17"/>
          <p:cNvGraphicFramePr/>
          <p:nvPr/>
        </p:nvGraphicFramePr>
        <p:xfrm>
          <a:off x="496775" y="1030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{852CA64E-8305-4E06-9606-9C284B55F562}</a:tableStyleId>
              </a:tblPr>
              <a:tblGrid>
                <a:gridCol w="1222850"/>
                <a:gridCol w="4915825"/>
                <a:gridCol w="1222850"/>
              </a:tblGrid>
              <a:tr h="413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/>
                        <a:t>Feature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/>
                        <a:t>C24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/>
                        <a:t>Competitors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3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Video Viewing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Yes, saves time and provides better assessment of chair condition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No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3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Payment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After test sitting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Before delivery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3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Shipping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Free in Oslo/Bærum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Varies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3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Price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Competitive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Varies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3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Selection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Large, priority to newsletter subscribers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Limited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3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Advice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Yes, avoid mistakes, usage, models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Varies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9" name="Google Shape;109;p17"/>
          <p:cNvSpPr txBox="1"/>
          <p:nvPr/>
        </p:nvSpPr>
        <p:spPr>
          <a:xfrm>
            <a:off x="366575" y="299950"/>
            <a:ext cx="6976500" cy="5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rgbClr val="1F1F1F"/>
                </a:solidFill>
                <a:highlight>
                  <a:srgbClr val="FFFFFF"/>
                </a:highlight>
              </a:rPr>
              <a:t>C24 vs. Competitors: Buying a Used Håg Capisco Chair</a:t>
            </a:r>
            <a:endParaRPr b="1" sz="17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10" name="Google Shape;11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65700" y="4757026"/>
            <a:ext cx="778301" cy="3864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8"/>
          <p:cNvPicPr preferRelativeResize="0"/>
          <p:nvPr/>
        </p:nvPicPr>
        <p:blipFill rotWithShape="1">
          <a:blip r:embed="rId3">
            <a:alphaModFix/>
          </a:blip>
          <a:srcRect b="0" l="0" r="21396" t="0"/>
          <a:stretch/>
        </p:blipFill>
        <p:spPr>
          <a:xfrm>
            <a:off x="152400" y="152400"/>
            <a:ext cx="3813551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62975" y="620000"/>
            <a:ext cx="4081024" cy="40481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65700" y="4757026"/>
            <a:ext cx="778301" cy="38648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8" name="Google Shape;118;p18"/>
          <p:cNvCxnSpPr/>
          <p:nvPr/>
        </p:nvCxnSpPr>
        <p:spPr>
          <a:xfrm flipH="1">
            <a:off x="4232575" y="4288100"/>
            <a:ext cx="744300" cy="5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9" name="Google Shape;119;p18"/>
          <p:cNvSpPr txBox="1"/>
          <p:nvPr/>
        </p:nvSpPr>
        <p:spPr>
          <a:xfrm>
            <a:off x="5062975" y="4165925"/>
            <a:ext cx="2766300" cy="8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Vanskelig å reselge brukt vs enkelt på grunn av høy etterspørsel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20" name="Google Shape;120;p18"/>
          <p:cNvCxnSpPr/>
          <p:nvPr/>
        </p:nvCxnSpPr>
        <p:spPr>
          <a:xfrm>
            <a:off x="5432325" y="1355300"/>
            <a:ext cx="621900" cy="233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1" name="Google Shape;121;p18"/>
          <p:cNvSpPr txBox="1"/>
          <p:nvPr/>
        </p:nvSpPr>
        <p:spPr>
          <a:xfrm>
            <a:off x="4421400" y="275375"/>
            <a:ext cx="2244000" cy="8997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Remove this</a:t>
            </a:r>
            <a:br>
              <a:rPr lang="en-GB" sz="1800">
                <a:solidFill>
                  <a:schemeClr val="dk2"/>
                </a:solidFill>
              </a:rPr>
            </a:br>
            <a:r>
              <a:rPr lang="en-GB" sz="1800">
                <a:solidFill>
                  <a:schemeClr val="dk2"/>
                </a:solidFill>
              </a:rPr>
              <a:t>( In Norway we only use “cm” )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22" name="Google Shape;122;p18"/>
          <p:cNvCxnSpPr/>
          <p:nvPr/>
        </p:nvCxnSpPr>
        <p:spPr>
          <a:xfrm flipH="1">
            <a:off x="8731750" y="1099775"/>
            <a:ext cx="19200" cy="433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3" name="Google Shape;123;p18"/>
          <p:cNvCxnSpPr/>
          <p:nvPr/>
        </p:nvCxnSpPr>
        <p:spPr>
          <a:xfrm>
            <a:off x="5432325" y="3526450"/>
            <a:ext cx="621900" cy="233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4" name="Google Shape;124;p18"/>
          <p:cNvCxnSpPr/>
          <p:nvPr/>
        </p:nvCxnSpPr>
        <p:spPr>
          <a:xfrm>
            <a:off x="7207375" y="1866250"/>
            <a:ext cx="621900" cy="233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" name="Google Shape;125;p18"/>
          <p:cNvCxnSpPr/>
          <p:nvPr/>
        </p:nvCxnSpPr>
        <p:spPr>
          <a:xfrm flipH="1">
            <a:off x="8731750" y="2099650"/>
            <a:ext cx="19200" cy="433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65700" y="4757026"/>
            <a:ext cx="778301" cy="3864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58926" y="2500088"/>
            <a:ext cx="2334148" cy="25002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59650" y="2454225"/>
            <a:ext cx="2060825" cy="25835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12375" y="66651"/>
            <a:ext cx="1800870" cy="2321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875125" y="66649"/>
            <a:ext cx="1616584" cy="2157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798271" y="203463"/>
            <a:ext cx="2158576" cy="188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3975" y="2839248"/>
            <a:ext cx="2060826" cy="1821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40875" y="66662"/>
            <a:ext cx="1519475" cy="215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3049" y="622000"/>
            <a:ext cx="5581099" cy="442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1"/>
          <p:cNvSpPr txBox="1"/>
          <p:nvPr>
            <p:ph idx="1" type="body"/>
          </p:nvPr>
        </p:nvSpPr>
        <p:spPr>
          <a:xfrm>
            <a:off x="190700" y="2571750"/>
            <a:ext cx="6996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1F1F1F"/>
                </a:solidFill>
                <a:highlight>
                  <a:srgbClr val="FFFFFF"/>
                </a:highlight>
              </a:rPr>
              <a:t>Upgrade your workday: Håg Capisco</a:t>
            </a:r>
            <a:endParaRPr b="1"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1F1F1F"/>
                </a:solidFill>
                <a:highlight>
                  <a:srgbClr val="FFFFFF"/>
                </a:highlight>
              </a:rPr>
              <a:t>Fill out our simple form and receive:</a:t>
            </a:r>
            <a:endParaRPr b="1"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1F1F1F"/>
              </a:buClr>
              <a:buSzPts val="1200"/>
              <a:buChar char="●"/>
            </a:pPr>
            <a:r>
              <a:rPr b="1" lang="en-GB" sz="1200">
                <a:solidFill>
                  <a:srgbClr val="1F1F1F"/>
                </a:solidFill>
                <a:highlight>
                  <a:srgbClr val="FFFFFF"/>
                </a:highlight>
              </a:rPr>
              <a:t>Video presentations of selected chairs</a:t>
            </a:r>
            <a:endParaRPr b="1"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Char char="●"/>
            </a:pPr>
            <a:r>
              <a:rPr b="1" lang="en-GB" sz="1200">
                <a:solidFill>
                  <a:srgbClr val="1F1F1F"/>
                </a:solidFill>
                <a:highlight>
                  <a:srgbClr val="FFFFFF"/>
                </a:highlight>
              </a:rPr>
              <a:t>Updated offers on used Capisco chairs</a:t>
            </a:r>
            <a:endParaRPr b="1"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Char char="●"/>
            </a:pPr>
            <a:r>
              <a:rPr b="1" lang="en-GB" sz="1200">
                <a:solidFill>
                  <a:srgbClr val="1F1F1F"/>
                </a:solidFill>
                <a:highlight>
                  <a:srgbClr val="FFFFFF"/>
                </a:highlight>
              </a:rPr>
              <a:t>Free delivery and try-out in Oslo and Bærum</a:t>
            </a:r>
            <a:endParaRPr b="1"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1F1F1F"/>
                </a:solidFill>
                <a:highlight>
                  <a:srgbClr val="FFFFFF"/>
                </a:highlight>
              </a:rPr>
              <a:t>Unsubscribe at any time.</a:t>
            </a:r>
            <a:endParaRPr b="1"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1F1F1F"/>
                </a:solidFill>
                <a:highlight>
                  <a:srgbClr val="FFFFFF"/>
                </a:highlight>
              </a:rPr>
              <a:t>Do you have any questions? Contact us here:</a:t>
            </a:r>
            <a:r>
              <a:rPr lang="en-GB" sz="1200">
                <a:solidFill>
                  <a:srgbClr val="1F1F1F"/>
                </a:solidFill>
                <a:highlight>
                  <a:srgbClr val="FFFFFF"/>
                </a:highlight>
              </a:rPr>
              <a:t> [link to contact us page]</a:t>
            </a:r>
            <a:endParaRPr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65700" y="4757026"/>
            <a:ext cx="778301" cy="386483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1"/>
          <p:cNvSpPr txBox="1"/>
          <p:nvPr/>
        </p:nvSpPr>
        <p:spPr>
          <a:xfrm>
            <a:off x="122200" y="0"/>
            <a:ext cx="8009700" cy="49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1F1F1F"/>
                </a:solidFill>
                <a:highlight>
                  <a:srgbClr val="FFFFFF"/>
                </a:highlight>
              </a:rPr>
              <a:t>Concerned about buying a used chair online?</a:t>
            </a:r>
            <a:endParaRPr b="1"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1F1F1F"/>
                </a:solidFill>
                <a:highlight>
                  <a:srgbClr val="FFFFFF"/>
                </a:highlight>
              </a:rPr>
              <a:t>C24 offers:</a:t>
            </a:r>
            <a:endParaRPr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F1F1F"/>
              </a:buClr>
              <a:buSzPts val="1200"/>
              <a:buChar char="●"/>
            </a:pPr>
            <a:r>
              <a:rPr b="1" lang="en-GB" sz="1200">
                <a:solidFill>
                  <a:srgbClr val="1F1F1F"/>
                </a:solidFill>
                <a:highlight>
                  <a:srgbClr val="FFFFFF"/>
                </a:highlight>
              </a:rPr>
              <a:t>Quality-controlled used Capisco chairs</a:t>
            </a:r>
            <a:endParaRPr b="1"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Char char="●"/>
            </a:pPr>
            <a:r>
              <a:rPr b="1" lang="en-GB" sz="1200">
                <a:solidFill>
                  <a:srgbClr val="1F1F1F"/>
                </a:solidFill>
                <a:highlight>
                  <a:srgbClr val="FFFFFF"/>
                </a:highlight>
              </a:rPr>
              <a:t>Detailed video presentations in daylight</a:t>
            </a:r>
            <a:endParaRPr b="1"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Char char="●"/>
            </a:pPr>
            <a:r>
              <a:rPr b="1" lang="en-GB" sz="1200">
                <a:solidFill>
                  <a:srgbClr val="1F1F1F"/>
                </a:solidFill>
                <a:highlight>
                  <a:srgbClr val="FFFFFF"/>
                </a:highlight>
              </a:rPr>
              <a:t>Transparent condition with any minor signs of wear</a:t>
            </a:r>
            <a:endParaRPr b="1"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Char char="●"/>
            </a:pPr>
            <a:r>
              <a:rPr b="1" lang="en-GB" sz="1200">
                <a:solidFill>
                  <a:srgbClr val="1F1F1F"/>
                </a:solidFill>
                <a:highlight>
                  <a:srgbClr val="FFFFFF"/>
                </a:highlight>
              </a:rPr>
              <a:t>Safe and reliable buying experience</a:t>
            </a:r>
            <a:endParaRPr b="1"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Char char="●"/>
            </a:pPr>
            <a:r>
              <a:rPr b="1" lang="en-GB" sz="1200">
                <a:solidFill>
                  <a:srgbClr val="1F1F1F"/>
                </a:solidFill>
                <a:highlight>
                  <a:srgbClr val="FFFFFF"/>
                </a:highlight>
              </a:rPr>
              <a:t>All our chairs are newly cleaned or have new seat covers.</a:t>
            </a:r>
            <a:endParaRPr b="1" sz="1200">
              <a:solidFill>
                <a:srgbClr val="1F1F1F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1F1F1F"/>
                </a:solidFill>
                <a:highlight>
                  <a:srgbClr val="FFFFFF"/>
                </a:highlight>
              </a:rPr>
              <a:t>Skip the misleading pictures. Get a realistic view of your perfect Capisco.</a:t>
            </a:r>
            <a:endParaRPr b="1"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